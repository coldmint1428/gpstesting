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960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657600" y="1609344"/>
            <a:ext cx="256032" cy="0"/>
          </a:xfrm>
          <a:prstGeom prst="line">
            <a:avLst/>
          </a:prstGeom>
          <a:ln w="20320" cap="sq">
            <a:solidFill>
              <a:srgbClr val="0969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913632" y="1609344"/>
            <a:ext cx="0" cy="713232"/>
          </a:xfrm>
          <a:prstGeom prst="line">
            <a:avLst/>
          </a:prstGeom>
          <a:ln w="20320" cap="sq">
            <a:solidFill>
              <a:srgbClr val="0969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913632" y="2322576"/>
            <a:ext cx="246888" cy="0"/>
          </a:xfrm>
          <a:prstGeom prst="line">
            <a:avLst/>
          </a:prstGeom>
          <a:ln w="20320" cap="sq">
            <a:solidFill>
              <a:srgbClr val="0969D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2011680" y="1005840"/>
            <a:ext cx="0" cy="137160"/>
          </a:xfrm>
          <a:prstGeom prst="line">
            <a:avLst/>
          </a:prstGeom>
          <a:ln w="20320" cap="sq">
            <a:solidFill>
              <a:srgbClr val="0969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11680" y="1005840"/>
            <a:ext cx="7863840" cy="0"/>
          </a:xfrm>
          <a:prstGeom prst="line">
            <a:avLst/>
          </a:prstGeom>
          <a:ln w="20320" cap="sq">
            <a:solidFill>
              <a:srgbClr val="0969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75520" y="1005840"/>
            <a:ext cx="0" cy="841248"/>
          </a:xfrm>
          <a:prstGeom prst="line">
            <a:avLst/>
          </a:prstGeom>
          <a:ln w="20320" cap="sq">
            <a:solidFill>
              <a:srgbClr val="0969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875520" y="1847088"/>
            <a:ext cx="822960" cy="0"/>
          </a:xfrm>
          <a:prstGeom prst="line">
            <a:avLst/>
          </a:prstGeom>
          <a:ln w="20320" cap="sq">
            <a:solidFill>
              <a:srgbClr val="0969D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5120640" y="868680"/>
            <a:ext cx="0" cy="274320"/>
          </a:xfrm>
          <a:prstGeom prst="line">
            <a:avLst/>
          </a:prstGeom>
          <a:ln w="20320" cap="sq">
            <a:solidFill>
              <a:srgbClr val="0969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120640" y="868680"/>
            <a:ext cx="6949440" cy="0"/>
          </a:xfrm>
          <a:prstGeom prst="line">
            <a:avLst/>
          </a:prstGeom>
          <a:ln w="20320" cap="sq">
            <a:solidFill>
              <a:srgbClr val="0969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070080" y="868680"/>
            <a:ext cx="0" cy="274320"/>
          </a:xfrm>
          <a:prstGeom prst="line">
            <a:avLst/>
          </a:prstGeom>
          <a:ln w="20320" cap="sq">
            <a:solidFill>
              <a:srgbClr val="0969D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560320" y="2843784"/>
            <a:ext cx="0" cy="402336"/>
          </a:xfrm>
          <a:prstGeom prst="line">
            <a:avLst/>
          </a:prstGeom>
          <a:ln w="20320" cap="sq">
            <a:solidFill>
              <a:srgbClr val="0969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60320" y="3246120"/>
            <a:ext cx="7406640" cy="0"/>
          </a:xfrm>
          <a:prstGeom prst="line">
            <a:avLst/>
          </a:prstGeom>
          <a:ln w="20320" cap="sq">
            <a:solidFill>
              <a:srgbClr val="0969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966960" y="3246120"/>
            <a:ext cx="0" cy="1353312"/>
          </a:xfrm>
          <a:prstGeom prst="line">
            <a:avLst/>
          </a:prstGeom>
          <a:ln w="20320" cap="sq">
            <a:solidFill>
              <a:srgbClr val="0969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66960" y="4599432"/>
            <a:ext cx="731520" cy="0"/>
          </a:xfrm>
          <a:prstGeom prst="line">
            <a:avLst/>
          </a:prstGeom>
          <a:ln w="20320" cap="sq">
            <a:solidFill>
              <a:srgbClr val="0969D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669280" y="3081528"/>
            <a:ext cx="0" cy="393192"/>
          </a:xfrm>
          <a:prstGeom prst="line">
            <a:avLst/>
          </a:prstGeom>
          <a:ln w="20320" cap="sq">
            <a:solidFill>
              <a:srgbClr val="0969D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06640" y="3886200"/>
            <a:ext cx="2103120" cy="0"/>
          </a:xfrm>
          <a:prstGeom prst="line">
            <a:avLst/>
          </a:prstGeom>
          <a:ln w="20320" cap="sq">
            <a:solidFill>
              <a:srgbClr val="0969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3886200"/>
            <a:ext cx="0" cy="237744"/>
          </a:xfrm>
          <a:prstGeom prst="line">
            <a:avLst/>
          </a:prstGeom>
          <a:ln w="20320" cap="sq">
            <a:solidFill>
              <a:srgbClr val="0969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509760" y="4123944"/>
            <a:ext cx="1188720" cy="0"/>
          </a:xfrm>
          <a:prstGeom prst="line">
            <a:avLst/>
          </a:prstGeom>
          <a:ln w="20320" cap="sq">
            <a:solidFill>
              <a:srgbClr val="0969D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06640" y="3995928"/>
            <a:ext cx="914400" cy="0"/>
          </a:xfrm>
          <a:prstGeom prst="line">
            <a:avLst/>
          </a:prstGeom>
          <a:ln w="20320" cap="sq">
            <a:solidFill>
              <a:srgbClr val="0969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321040" y="3995928"/>
            <a:ext cx="0" cy="2221992"/>
          </a:xfrm>
          <a:prstGeom prst="line">
            <a:avLst/>
          </a:prstGeom>
          <a:ln w="20320" cap="sq">
            <a:solidFill>
              <a:srgbClr val="0969D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80560" y="3081528"/>
            <a:ext cx="0" cy="283464"/>
          </a:xfrm>
          <a:prstGeom prst="line">
            <a:avLst/>
          </a:prstGeom>
          <a:ln w="20320" cap="sq">
            <a:solidFill>
              <a:srgbClr val="0969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502920" y="3364992"/>
            <a:ext cx="3977640" cy="0"/>
          </a:xfrm>
          <a:prstGeom prst="line">
            <a:avLst/>
          </a:prstGeom>
          <a:ln w="20320" cap="sq">
            <a:solidFill>
              <a:srgbClr val="0969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2920" y="3364992"/>
            <a:ext cx="0" cy="3557016"/>
          </a:xfrm>
          <a:prstGeom prst="line">
            <a:avLst/>
          </a:prstGeom>
          <a:ln w="20320" cap="sq">
            <a:solidFill>
              <a:srgbClr val="0969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2920" y="6922008"/>
            <a:ext cx="228600" cy="0"/>
          </a:xfrm>
          <a:prstGeom prst="line">
            <a:avLst/>
          </a:prstGeom>
          <a:ln w="20320" cap="sq">
            <a:solidFill>
              <a:srgbClr val="0969D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35040" y="5413248"/>
            <a:ext cx="0" cy="576072"/>
          </a:xfrm>
          <a:prstGeom prst="line">
            <a:avLst/>
          </a:prstGeom>
          <a:ln w="20320" cap="sq">
            <a:solidFill>
              <a:srgbClr val="8250D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35040" y="5989320"/>
            <a:ext cx="4297680" cy="0"/>
          </a:xfrm>
          <a:prstGeom prst="line">
            <a:avLst/>
          </a:prstGeom>
          <a:ln w="20320" cap="sq">
            <a:solidFill>
              <a:srgbClr val="8250D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332720" y="5833872"/>
            <a:ext cx="0" cy="155448"/>
          </a:xfrm>
          <a:prstGeom prst="line">
            <a:avLst/>
          </a:prstGeom>
          <a:ln w="20320" cap="sq">
            <a:solidFill>
              <a:srgbClr val="8250DF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66560" y="3081528"/>
            <a:ext cx="0" cy="283464"/>
          </a:xfrm>
          <a:prstGeom prst="line">
            <a:avLst/>
          </a:prstGeom>
          <a:ln w="20320" cap="sq">
            <a:solidFill>
              <a:srgbClr val="8C959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766560" y="3364992"/>
            <a:ext cx="3749040" cy="0"/>
          </a:xfrm>
          <a:prstGeom prst="line">
            <a:avLst/>
          </a:prstGeom>
          <a:ln w="20320" cap="sq">
            <a:solidFill>
              <a:srgbClr val="8C959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515600" y="3364992"/>
            <a:ext cx="0" cy="996696"/>
          </a:xfrm>
          <a:prstGeom prst="line">
            <a:avLst/>
          </a:prstGeom>
          <a:ln w="20320" cap="sq">
            <a:solidFill>
              <a:srgbClr val="8C959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515600" y="4361688"/>
            <a:ext cx="182880" cy="0"/>
          </a:xfrm>
          <a:prstGeom prst="line">
            <a:avLst/>
          </a:prstGeom>
          <a:ln w="20320" cap="sq">
            <a:solidFill>
              <a:srgbClr val="8C959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74320" y="1371600"/>
            <a:ext cx="137160" cy="0"/>
          </a:xfrm>
          <a:prstGeom prst="line">
            <a:avLst/>
          </a:prstGeom>
          <a:ln w="20320" cap="sq">
            <a:solidFill>
              <a:srgbClr val="8C959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74320" y="1371600"/>
            <a:ext cx="0" cy="6025896"/>
          </a:xfrm>
          <a:prstGeom prst="line">
            <a:avLst/>
          </a:prstGeom>
          <a:ln w="20320" cap="sq">
            <a:solidFill>
              <a:srgbClr val="8C959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74320" y="7397496"/>
            <a:ext cx="457200" cy="0"/>
          </a:xfrm>
          <a:prstGeom prst="line">
            <a:avLst/>
          </a:prstGeom>
          <a:ln w="20320" cap="sq">
            <a:solidFill>
              <a:srgbClr val="8C959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11480" y="1143000"/>
            <a:ext cx="3246120" cy="17007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425196" y="1156716"/>
            <a:ext cx="3218688" cy="310896"/>
          </a:xfrm>
          <a:prstGeom prst="round2SameRect">
            <a:avLst>
              <a:gd name="adj1" fmla="val 16000"/>
              <a:gd name="adj2" fmla="val 0"/>
            </a:avLst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7784" y="1193292"/>
            <a:ext cx="136337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profiles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86076" y="1193292"/>
            <a:ext cx="1525219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DBE4EC"/>
                </a:solidFill>
                <a:latin typeface="Segoe UI"/>
              </a:rPr>
              <a:t>one row per account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1504188"/>
            <a:ext cx="3081527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7D4E00"/>
                </a:solidFill>
                <a:latin typeface="Consolas"/>
              </a:rPr>
              <a:t>PK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id        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uuid       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= auth.users.id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1741932"/>
            <a:ext cx="3081527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8A9199"/>
                </a:solidFill>
                <a:latin typeface="Consolas"/>
              </a:rPr>
              <a:t>  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username  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text       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unique, 3-20 chars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1979676"/>
            <a:ext cx="3081527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8A9199"/>
                </a:solidFill>
                <a:latin typeface="Consolas"/>
              </a:rPr>
              <a:t>  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display_name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text       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1-50 chars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2217420"/>
            <a:ext cx="3081527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8A9199"/>
                </a:solidFill>
                <a:latin typeface="Consolas"/>
              </a:rPr>
              <a:t>  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created_at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timestamptz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default now()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2532888"/>
            <a:ext cx="3063240" cy="0"/>
          </a:xfrm>
          <a:prstGeom prst="line">
            <a:avLst/>
          </a:prstGeom>
          <a:ln w="9525" cap="sq">
            <a:solidFill>
              <a:srgbClr val="D8DE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57784" y="2587752"/>
            <a:ext cx="2971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9636E"/>
                </a:solidFill>
                <a:latin typeface="Segoe UI"/>
              </a:rPr>
              <a:t>Written by the trigger handle_new_user() at signup - the app never inserts it.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60520" y="1143000"/>
            <a:ext cx="3246120" cy="19385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4174235" y="1156716"/>
            <a:ext cx="3218688" cy="310896"/>
          </a:xfrm>
          <a:prstGeom prst="round2SameRect">
            <a:avLst>
              <a:gd name="adj1" fmla="val 16000"/>
              <a:gd name="adj2" fmla="val 0"/>
            </a:avLst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06824" y="1193292"/>
            <a:ext cx="136337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events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35116" y="1193292"/>
            <a:ext cx="1525219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DBE4EC"/>
                </a:solidFill>
                <a:latin typeface="Segoe UI"/>
              </a:rPr>
              <a:t>one row per event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51959" y="1504188"/>
            <a:ext cx="3081527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7D4E00"/>
                </a:solidFill>
                <a:latin typeface="Consolas"/>
              </a:rPr>
              <a:t>PK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id        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uuid       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gen_random_uuid()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51959" y="1741932"/>
            <a:ext cx="3081527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8A9199"/>
                </a:solidFill>
                <a:latin typeface="Consolas"/>
              </a:rPr>
              <a:t>  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name      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text       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1-80 chars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51959" y="1979676"/>
            <a:ext cx="3081527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8A9199"/>
                </a:solidFill>
                <a:latin typeface="Consolas"/>
              </a:rPr>
              <a:t>  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join_code 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text       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unique, 6 chars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51959" y="2217420"/>
            <a:ext cx="3081527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969DA"/>
                </a:solidFill>
                <a:latin typeface="Consolas"/>
              </a:rPr>
              <a:t>FK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created_by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uuid       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-&gt; profiles.id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51959" y="2455164"/>
            <a:ext cx="3081527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8A9199"/>
                </a:solidFill>
                <a:latin typeface="Consolas"/>
              </a:rPr>
              <a:t>  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created_at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timestamptz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default now()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251959" y="2770632"/>
            <a:ext cx="3063241" cy="0"/>
          </a:xfrm>
          <a:prstGeom prst="line">
            <a:avLst/>
          </a:prstGeom>
          <a:ln w="9525" cap="sq">
            <a:solidFill>
              <a:srgbClr val="D8DE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306824" y="2825496"/>
            <a:ext cx="2971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9636E"/>
                </a:solidFill>
                <a:latin typeface="Segoe UI"/>
              </a:rPr>
              <a:t>join_code avoids I L O 0 1 so it is safe to read aloud.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698480" y="1143000"/>
            <a:ext cx="3520440" cy="17007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8" name="Round Same Side Corner Rectangle 57"/>
          <p:cNvSpPr/>
          <p:nvPr/>
        </p:nvSpPr>
        <p:spPr>
          <a:xfrm>
            <a:off x="10712196" y="1156716"/>
            <a:ext cx="3493008" cy="310896"/>
          </a:xfrm>
          <a:prstGeom prst="round2SameRect">
            <a:avLst>
              <a:gd name="adj1" fmla="val 16000"/>
              <a:gd name="adj2" fmla="val 0"/>
            </a:avLst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844784" y="1193292"/>
            <a:ext cx="147858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event_roles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393777" y="1193292"/>
            <a:ext cx="1678838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DBE4EC"/>
                </a:solidFill>
                <a:latin typeface="Segoe UI"/>
              </a:rPr>
              <a:t>per event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19" y="1504188"/>
            <a:ext cx="335584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7D4E00"/>
                </a:solidFill>
                <a:latin typeface="Consolas"/>
              </a:rPr>
              <a:t>PK FK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event_id  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uuid       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-&gt; events.id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89919" y="1741932"/>
            <a:ext cx="335584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7D4E00"/>
                </a:solidFill>
                <a:latin typeface="Consolas"/>
              </a:rPr>
              <a:t>PK FK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user_id   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uuid       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-&gt; profiles.id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89919" y="1979676"/>
            <a:ext cx="335584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7D4E00"/>
                </a:solidFill>
                <a:latin typeface="Consolas"/>
              </a:rPr>
              <a:t>PK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role      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text       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root/planner/marshal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89919" y="2217420"/>
            <a:ext cx="335584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8A9199"/>
                </a:solidFill>
                <a:latin typeface="Consolas"/>
              </a:rPr>
              <a:t>  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created_at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timestamptz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default now()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0789919" y="2532888"/>
            <a:ext cx="3337561" cy="0"/>
          </a:xfrm>
          <a:prstGeom prst="line">
            <a:avLst/>
          </a:prstGeom>
          <a:ln w="9525" cap="sq">
            <a:solidFill>
              <a:srgbClr val="D8DE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0844784" y="2587752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9636E"/>
                </a:solidFill>
                <a:latin typeface="Segoe UI"/>
              </a:rPr>
              <a:t>PK spans all 3 columns, so roles are additive - plus one root per event.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160520" y="3474720"/>
            <a:ext cx="3246120" cy="19385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Round Same Side Corner Rectangle 67"/>
          <p:cNvSpPr/>
          <p:nvPr/>
        </p:nvSpPr>
        <p:spPr>
          <a:xfrm>
            <a:off x="4174235" y="3488436"/>
            <a:ext cx="3218688" cy="310896"/>
          </a:xfrm>
          <a:prstGeom prst="round2SameRect">
            <a:avLst>
              <a:gd name="adj1" fmla="val 16000"/>
              <a:gd name="adj2" fmla="val 0"/>
            </a:avLst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06824" y="3525012"/>
            <a:ext cx="136337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groups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35116" y="3525012"/>
            <a:ext cx="1525219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DBE4EC"/>
                </a:solidFill>
                <a:latin typeface="Segoe UI"/>
              </a:rPr>
              <a:t>teams in an event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51959" y="3835907"/>
            <a:ext cx="3081527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7D4E00"/>
                </a:solidFill>
                <a:latin typeface="Consolas"/>
              </a:rPr>
              <a:t>PK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id        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uuid       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gen_random_uuid()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51959" y="4073651"/>
            <a:ext cx="3081527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969DA"/>
                </a:solidFill>
                <a:latin typeface="Consolas"/>
              </a:rPr>
              <a:t>FK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event_id  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uuid       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-&gt; events.id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51959" y="4311395"/>
            <a:ext cx="3081527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8A9199"/>
                </a:solidFill>
                <a:latin typeface="Consolas"/>
              </a:rPr>
              <a:t>  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name      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text       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unique per event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251959" y="4549139"/>
            <a:ext cx="3081527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8A9199"/>
                </a:solidFill>
                <a:latin typeface="Consolas"/>
              </a:rPr>
              <a:t>  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colour    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text       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#rrggbb map colour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51959" y="4786883"/>
            <a:ext cx="3081527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8A9199"/>
                </a:solidFill>
                <a:latin typeface="Consolas"/>
              </a:rPr>
              <a:t>  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created_at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timestamptz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default now()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4251959" y="5102351"/>
            <a:ext cx="3063241" cy="0"/>
          </a:xfrm>
          <a:prstGeom prst="line">
            <a:avLst/>
          </a:prstGeom>
          <a:ln w="9525" cap="sq">
            <a:solidFill>
              <a:srgbClr val="D8DE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4306824" y="5157215"/>
            <a:ext cx="2971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9636E"/>
                </a:solidFill>
                <a:latin typeface="Segoe UI"/>
              </a:rPr>
              <a:t>unique (id, event_id) exists only so group_members can point at the pair.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698480" y="3657600"/>
            <a:ext cx="3520440" cy="217627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9" name="Round Same Side Corner Rectangle 78"/>
          <p:cNvSpPr/>
          <p:nvPr/>
        </p:nvSpPr>
        <p:spPr>
          <a:xfrm>
            <a:off x="10712196" y="3671315"/>
            <a:ext cx="3493008" cy="310896"/>
          </a:xfrm>
          <a:prstGeom prst="round2SameRect">
            <a:avLst>
              <a:gd name="adj1" fmla="val 16000"/>
              <a:gd name="adj2" fmla="val 0"/>
            </a:avLst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844784" y="3707891"/>
            <a:ext cx="147858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group_members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393777" y="3707891"/>
            <a:ext cx="1678838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DBE4EC"/>
                </a:solidFill>
                <a:latin typeface="Segoe UI"/>
              </a:rPr>
              <a:t>person -&gt; group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789919" y="4018787"/>
            <a:ext cx="335584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7D4E00"/>
                </a:solidFill>
                <a:latin typeface="Consolas"/>
              </a:rPr>
              <a:t>PK FK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group_id  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uuid       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-&gt; groups.id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789919" y="4256531"/>
            <a:ext cx="335584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969DA"/>
                </a:solidFill>
                <a:latin typeface="Consolas"/>
              </a:rPr>
              <a:t>FK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event_id  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uuid       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-&gt; groups(id,event_id)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789919" y="4494275"/>
            <a:ext cx="335584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7D4E00"/>
                </a:solidFill>
                <a:latin typeface="Consolas"/>
              </a:rPr>
              <a:t>PK FK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user_id   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uuid       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-&gt; profiles.id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789919" y="4732019"/>
            <a:ext cx="335584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8A9199"/>
                </a:solidFill>
                <a:latin typeface="Consolas"/>
              </a:rPr>
              <a:t>  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is_admin  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boolean    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group admin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789919" y="4969763"/>
            <a:ext cx="335584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8A9199"/>
                </a:solidFill>
                <a:latin typeface="Consolas"/>
              </a:rPr>
              <a:t>  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is_ic     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boolean    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shares GPS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789919" y="5207507"/>
            <a:ext cx="335584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8A9199"/>
                </a:solidFill>
                <a:latin typeface="Consolas"/>
              </a:rPr>
              <a:t>  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created_at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timestamptz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default now()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10789919" y="5522975"/>
            <a:ext cx="3337561" cy="0"/>
          </a:xfrm>
          <a:prstGeom prst="line">
            <a:avLst/>
          </a:prstGeom>
          <a:ln w="9525" cap="sq">
            <a:solidFill>
              <a:srgbClr val="D8DE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0844784" y="5577839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9636E"/>
                </a:solidFill>
                <a:latin typeface="Segoe UI"/>
              </a:rPr>
              <a:t>unique (event_id, user_id): one group per person per event.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31520" y="6217920"/>
            <a:ext cx="7909560" cy="2889503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1" name="Round Same Side Corner Rectangle 90"/>
          <p:cNvSpPr/>
          <p:nvPr/>
        </p:nvSpPr>
        <p:spPr>
          <a:xfrm>
            <a:off x="745236" y="6231636"/>
            <a:ext cx="7882128" cy="310896"/>
          </a:xfrm>
          <a:prstGeom prst="round2SameRect">
            <a:avLst>
              <a:gd name="adj1" fmla="val 16000"/>
              <a:gd name="adj2" fmla="val 0"/>
            </a:avLst>
          </a:prstGeom>
          <a:solidFill>
            <a:srgbClr val="BC4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77824" y="6268212"/>
            <a:ext cx="3322015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locations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58030" y="6268212"/>
            <a:ext cx="4136745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DBE4EC"/>
                </a:solidFill>
                <a:latin typeface="Segoe UI"/>
              </a:rPr>
              <a:t>append-only GPS log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2960" y="6579107"/>
            <a:ext cx="77449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7D4E00"/>
                </a:solidFill>
                <a:latin typeface="Consolas"/>
              </a:rPr>
              <a:t>PK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id        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bigint identity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incrementing, not a uuid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22960" y="6816851"/>
            <a:ext cx="77449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969DA"/>
                </a:solidFill>
                <a:latin typeface="Consolas"/>
              </a:rPr>
              <a:t>FK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event_id  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uuid       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-&gt; events.id, NOT VALID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22960" y="7054595"/>
            <a:ext cx="77449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969DA"/>
                </a:solidFill>
                <a:latin typeface="Consolas"/>
              </a:rPr>
              <a:t>FK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group_id  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uuid       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-&gt; groups.id, NOT VALID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2960" y="7292339"/>
            <a:ext cx="77449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969DA"/>
                </a:solidFill>
                <a:latin typeface="Consolas"/>
              </a:rPr>
              <a:t>FK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user_id   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uuid       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default auth.uid()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2960" y="7530083"/>
            <a:ext cx="77449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8A9199"/>
                </a:solidFill>
                <a:latin typeface="Consolas"/>
              </a:rPr>
              <a:t>  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lat       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double precision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required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22960" y="7767827"/>
            <a:ext cx="77449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8A9199"/>
                </a:solidFill>
                <a:latin typeface="Consolas"/>
              </a:rPr>
              <a:t>  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lng       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double precision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required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22960" y="8005571"/>
            <a:ext cx="77449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8A9199"/>
                </a:solidFill>
                <a:latin typeface="Consolas"/>
              </a:rPr>
              <a:t>  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accuracy  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real       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nullable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2960" y="8243315"/>
            <a:ext cx="77449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8A9199"/>
                </a:solidFill>
                <a:latin typeface="Consolas"/>
              </a:rPr>
              <a:t>  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source     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text       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gps | marshal | stop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2960" y="8481059"/>
            <a:ext cx="77449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8A9199"/>
                </a:solidFill>
                <a:latin typeface="Consolas"/>
              </a:rPr>
              <a:t>      </a:t>
            </a:r>
            <a:r>
              <a:rPr sz="800" b="0" i="0">
                <a:solidFill>
                  <a:srgbClr val="1F2328"/>
                </a:solidFill>
                <a:latin typeface="Consolas"/>
              </a:rPr>
              <a:t>recorded_at  </a:t>
            </a:r>
            <a:r>
              <a:rPr sz="800" b="0" i="0">
                <a:solidFill>
                  <a:srgbClr val="8250DF"/>
                </a:solidFill>
                <a:latin typeface="Consolas"/>
              </a:rPr>
              <a:t>timestamptz   </a:t>
            </a:r>
            <a:r>
              <a:rPr sz="700" b="0" i="0">
                <a:solidFill>
                  <a:srgbClr val="8A9199"/>
                </a:solidFill>
                <a:latin typeface="Segoe UI"/>
              </a:rPr>
              <a:t>  default now()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822960" y="8796527"/>
            <a:ext cx="7726680" cy="0"/>
          </a:xfrm>
          <a:prstGeom prst="line">
            <a:avLst/>
          </a:prstGeom>
          <a:ln w="9525" cap="sq">
            <a:solidFill>
              <a:srgbClr val="D8DE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877824" y="8851391"/>
            <a:ext cx="7635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9636E"/>
                </a:solidFill>
                <a:latin typeface="Segoe UI"/>
              </a:rPr>
              <a:t>Never updated, never deleted on a schedule - one new row per reading.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915400" y="6217920"/>
            <a:ext cx="5303520" cy="288950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098280" y="6336792"/>
            <a:ext cx="493775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328"/>
                </a:solidFill>
                <a:latin typeface="Segoe UI"/>
              </a:rPr>
              <a:t>How to read this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9098280" y="6638544"/>
            <a:ext cx="4937760" cy="0"/>
          </a:xfrm>
          <a:prstGeom prst="line">
            <a:avLst/>
          </a:prstGeom>
          <a:ln w="9525" cap="sq">
            <a:solidFill>
              <a:srgbClr val="D8DE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116568" y="6830568"/>
            <a:ext cx="457200" cy="0"/>
          </a:xfrm>
          <a:prstGeom prst="line">
            <a:avLst/>
          </a:prstGeom>
          <a:ln w="20320" cap="sq">
            <a:solidFill>
              <a:srgbClr val="0969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9665208" y="6748272"/>
            <a:ext cx="43891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328"/>
                </a:solidFill>
                <a:latin typeface="Segoe UI"/>
              </a:rPr>
              <a:t>foreign key - arrow points at the referencing column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9116568" y="7054596"/>
            <a:ext cx="402336" cy="0"/>
          </a:xfrm>
          <a:prstGeom prst="line">
            <a:avLst/>
          </a:prstGeom>
          <a:ln w="20320" cap="sq">
            <a:solidFill>
              <a:srgbClr val="8C959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9665208" y="6972300"/>
            <a:ext cx="43891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328"/>
                </a:solidFill>
                <a:latin typeface="Segoe UI"/>
              </a:rPr>
              <a:t>stored, but NOT a foreign key (kept in step by code)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9116568" y="7278624"/>
            <a:ext cx="402336" cy="0"/>
          </a:xfrm>
          <a:prstGeom prst="line">
            <a:avLst/>
          </a:prstGeom>
          <a:ln w="20320" cap="sq">
            <a:solidFill>
              <a:srgbClr val="8250D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9665208" y="7196328"/>
            <a:ext cx="43891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328"/>
                </a:solidFill>
                <a:latin typeface="Segoe UI"/>
              </a:rPr>
              <a:t>composite key target: groups (id, event_id)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116568" y="7475220"/>
            <a:ext cx="2377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D4E00"/>
                </a:solidFill>
                <a:latin typeface="Consolas"/>
              </a:rPr>
              <a:t>PK</a:t>
            </a:r>
            <a:r>
              <a:rPr sz="850" b="0" i="0">
                <a:solidFill>
                  <a:srgbClr val="1F2328"/>
                </a:solidFill>
                <a:latin typeface="Segoe UI"/>
              </a:rPr>
              <a:t>  primary key in this table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116568" y="7676388"/>
            <a:ext cx="2377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969DA"/>
                </a:solidFill>
                <a:latin typeface="Consolas"/>
              </a:rPr>
              <a:t>FK</a:t>
            </a:r>
            <a:r>
              <a:rPr sz="850" b="0" i="0">
                <a:solidFill>
                  <a:srgbClr val="1F2328"/>
                </a:solidFill>
                <a:latin typeface="Segoe UI"/>
              </a:rPr>
              <a:t>  points at another table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9098280" y="7968996"/>
            <a:ext cx="4937760" cy="0"/>
          </a:xfrm>
          <a:prstGeom prst="line">
            <a:avLst/>
          </a:prstGeom>
          <a:ln w="9525" cap="sq">
            <a:solidFill>
              <a:srgbClr val="D8DE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9116568" y="8060436"/>
            <a:ext cx="4901183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9636E"/>
                </a:solidFill>
                <a:latin typeface="Segoe UI"/>
              </a:rPr>
              <a:t>Row Level Security is on for every table: a row is invisible unless a policy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116568" y="8257032"/>
            <a:ext cx="4901183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9636E"/>
                </a:solidFill>
                <a:latin typeface="Segoe UI"/>
              </a:rPr>
              <a:t>lets you see it. Grants come first, then constraints, then RLS.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16568" y="8453628"/>
            <a:ext cx="4901183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9636E"/>
                </a:solidFill>
                <a:latin typeface="Segoe UI"/>
              </a:rPr>
              <a:t>Cascade: deleting an event or group removes its dependants - but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16568" y="8650224"/>
            <a:ext cx="4901183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9636E"/>
                </a:solidFill>
                <a:latin typeface="Segoe UI"/>
              </a:rPr>
              <a:t>events.created_by does NOT cascade, so an event owner cannot be deleted.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11480" y="146304"/>
            <a:ext cx="137160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2328"/>
                </a:solidFill>
                <a:latin typeface="Segoe UI"/>
              </a:rPr>
              <a:t>gpstesting - Entity Relationship Diagram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29768" y="530352"/>
            <a:ext cx="138988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9636E"/>
                </a:solidFill>
                <a:latin typeface="Segoe UI"/>
              </a:rPr>
              <a:t>Supabase / PostgreSQL  ·  rebuilt from supabase/migrations/001-004  ·  6 tables  ·  lines point from the referenced table to the referencing column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10896"/>
            <a:ext cx="13716000" cy="402336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200" b="1">
                <a:solidFill>
                  <a:srgbClr val="1F2328"/>
                </a:solidFill>
                <a:latin typeface="Segoe UI"/>
              </a:rPr>
              <a:t>gpstesting - relationships, keys and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49808"/>
            <a:ext cx="138988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>
                <a:solidFill>
                  <a:srgbClr val="59636E"/>
                </a:solidFill>
                <a:latin typeface="Segoe UI"/>
              </a:rPr>
              <a:t>Every arrow on slide 1 appears here with the rule that actually enforces it.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097280"/>
          <a:ext cx="13578840" cy="37124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2920"/>
                <a:gridCol w="2148840"/>
                <a:gridCol w="2834640"/>
                <a:gridCol w="2331720"/>
                <a:gridCol w="5760720"/>
              </a:tblGrid>
              <a:tr h="292608">
                <a:tc>
                  <a:txBody>
                    <a:bodyPr/>
                    <a:lstStyle/>
                    <a:p>
                      <a:r>
                        <a:rPr sz="900" b="1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referenced (parent)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referencing (child)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enforced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what it means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Consolas"/>
                        </a:rPr>
                        <a:t>profiles.id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Consolas"/>
                        </a:rPr>
                        <a:t>events.created_by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8250DF"/>
                          </a:solidFill>
                          <a:latin typeface="Segoe UI"/>
                        </a:rPr>
                        <a:t>FK, no cascade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Segoe UI"/>
                        </a:rPr>
                        <a:t>an event can never lose its owner, so a busy account cannot be deleted</a:t>
                      </a:r>
                    </a:p>
                  </a:txBody>
                  <a:tcPr marL="54864" marR="54864" marT="9144" marB="9144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Consolas"/>
                        </a:rPr>
                        <a:t>profiles.id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Consolas"/>
                        </a:rPr>
                        <a:t>event_roles.user_id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8250DF"/>
                          </a:solidFill>
                          <a:latin typeface="Segoe UI"/>
                        </a:rPr>
                        <a:t>FK, cascade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Segoe UI"/>
                        </a:rPr>
                        <a:t>delete the account and its event roles go with it</a:t>
                      </a:r>
                    </a:p>
                  </a:txBody>
                  <a:tcPr marL="54864" marR="54864" marT="9144" marB="9144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Consolas"/>
                        </a:rPr>
                        <a:t>profiles.id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Consolas"/>
                        </a:rPr>
                        <a:t>group_members.user_id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8250DF"/>
                          </a:solidFill>
                          <a:latin typeface="Segoe UI"/>
                        </a:rPr>
                        <a:t>FK, cascade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Segoe UI"/>
                        </a:rPr>
                        <a:t>same for group membership</a:t>
                      </a:r>
                    </a:p>
                  </a:txBody>
                  <a:tcPr marL="54864" marR="54864" marT="9144" marB="9144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Consolas"/>
                        </a:rPr>
                        <a:t>profiles.id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Consolas"/>
                        </a:rPr>
                        <a:t>locations.user_id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8250DF"/>
                          </a:solidFill>
                          <a:latin typeface="Segoe UI"/>
                        </a:rPr>
                        <a:t>none - default auth.uid()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Segoe UI"/>
                        </a:rPr>
                        <a:t>logical only: the column records who uploaded, but is not constrained</a:t>
                      </a:r>
                    </a:p>
                  </a:txBody>
                  <a:tcPr marL="54864" marR="54864" marT="9144" marB="9144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Consolas"/>
                        </a:rPr>
                        <a:t>events.id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Consolas"/>
                        </a:rPr>
                        <a:t>event_roles.event_id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8250DF"/>
                          </a:solidFill>
                          <a:latin typeface="Segoe UI"/>
                        </a:rPr>
                        <a:t>FK, cascade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Segoe UI"/>
                        </a:rPr>
                        <a:t>the role rows belong to the event</a:t>
                      </a:r>
                    </a:p>
                  </a:txBody>
                  <a:tcPr marL="54864" marR="54864" marT="9144" marB="9144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Consolas"/>
                        </a:rPr>
                        <a:t>events.id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Consolas"/>
                        </a:rPr>
                        <a:t>groups.event_id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8250DF"/>
                          </a:solidFill>
                          <a:latin typeface="Segoe UI"/>
                        </a:rPr>
                        <a:t>FK, cascade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Segoe UI"/>
                        </a:rPr>
                        <a:t>delete the event and its groups vanish</a:t>
                      </a:r>
                    </a:p>
                  </a:txBody>
                  <a:tcPr marL="54864" marR="54864" marT="9144" marB="9144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Consolas"/>
                        </a:rPr>
                        <a:t>events.id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Consolas"/>
                        </a:rPr>
                        <a:t>group_members.event_id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8250DF"/>
                          </a:solidFill>
                          <a:latin typeface="Segoe UI"/>
                        </a:rPr>
                        <a:t>none - kept in step by code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Segoe UI"/>
                        </a:rPr>
                        <a:t>denormalised copy of groups.event_id, so the unique rule can be enforced</a:t>
                      </a:r>
                    </a:p>
                  </a:txBody>
                  <a:tcPr marL="54864" marR="54864" marT="9144" marB="9144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Consolas"/>
                        </a:rPr>
                        <a:t>events.id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Consolas"/>
                        </a:rPr>
                        <a:t>locations.event_id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8250DF"/>
                          </a:solidFill>
                          <a:latin typeface="Segoe UI"/>
                        </a:rPr>
                        <a:t>FK, NOT VALID, cascade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Segoe UI"/>
                        </a:rPr>
                        <a:t>NOT VALID means existing rows were never checked; new rows are</a:t>
                      </a:r>
                    </a:p>
                  </a:txBody>
                  <a:tcPr marL="54864" marR="54864" marT="9144" marB="9144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Consolas"/>
                        </a:rPr>
                        <a:t>groups.id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Consolas"/>
                        </a:rPr>
                        <a:t>group_members.group_id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8250DF"/>
                          </a:solidFill>
                          <a:latin typeface="Segoe UI"/>
                        </a:rPr>
                        <a:t>FK, cascade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Segoe UI"/>
                        </a:rPr>
                        <a:t>a membership points at exactly one group</a:t>
                      </a:r>
                    </a:p>
                  </a:txBody>
                  <a:tcPr marL="54864" marR="54864" marT="9144" marB="9144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Consolas"/>
                        </a:rPr>
                        <a:t>groups.id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Consolas"/>
                        </a:rPr>
                        <a:t>locations.group_id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8250DF"/>
                          </a:solidFill>
                          <a:latin typeface="Segoe UI"/>
                        </a:rPr>
                        <a:t>FK, NOT VALID, cascade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Segoe UI"/>
                        </a:rPr>
                        <a:t>which team the reading was attributed to</a:t>
                      </a:r>
                    </a:p>
                  </a:txBody>
                  <a:tcPr marL="54864" marR="54864" marT="9144" marB="9144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Consolas"/>
                        </a:rPr>
                        <a:t>groups (id, event_id)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Consolas"/>
                        </a:rPr>
                        <a:t>group_members (group_id, event_id)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8250DF"/>
                          </a:solidFill>
                          <a:latin typeface="Segoe UI"/>
                        </a:rPr>
                        <a:t>composite FK</a:t>
                      </a:r>
                    </a:p>
                  </a:txBody>
                  <a:tcPr marL="54864" marR="54864" marT="9144" marB="9144"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F2328"/>
                          </a:solidFill>
                          <a:latin typeface="Segoe UI"/>
                        </a:rPr>
                        <a:t>stops a member of event A being wired to a group in event B</a:t>
                      </a:r>
                    </a:p>
                  </a:txBody>
                  <a:tcPr marL="54864" marR="54864" marT="9144" marB="9144"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11480" y="5394960"/>
            <a:ext cx="13807440" cy="3840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5577840"/>
            <a:ext cx="1335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Segoe UI"/>
              </a:rPr>
              <a:t>The rules that are not arrows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961888"/>
            <a:ext cx="31089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969DA"/>
                </a:solidFill>
                <a:latin typeface="Segoe UI"/>
              </a:rPr>
              <a:t>Primary keys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5952744"/>
            <a:ext cx="101498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9636E"/>
                </a:solidFill>
                <a:latin typeface="Segoe UI"/>
              </a:rPr>
              <a:t>profiles / events / groups use a uuid primary key. event_roles uses a 3-column primary key (event_id, user_id, role) - that is what makes roles additive: one person can hold several. A separate partial unique index, event_roles_one_root, allows only one root per event. locations is the odd one out: a bigint identity, because it is a high-volume log.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583680"/>
            <a:ext cx="31089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969DA"/>
                </a:solidFill>
                <a:latin typeface="Segoe UI"/>
              </a:rPr>
              <a:t>Unique constraints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6574536"/>
            <a:ext cx="101498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9636E"/>
                </a:solidFill>
                <a:latin typeface="Segoe UI"/>
              </a:rPr>
              <a:t>profiles.username is unique. events.join_code is unique. groups is unique on (event_id, name), so two different events may both have a "Bus A". groups is also unique on (id, event_id) purely so group_members can point at that pair. group_members is unique on (event_id, user_id): one group per person per event.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7205472"/>
            <a:ext cx="31089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969DA"/>
                </a:solidFill>
                <a:latin typeface="Segoe UI"/>
              </a:rPr>
              <a:t>Three gates, in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7196328"/>
            <a:ext cx="101498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9636E"/>
                </a:solidFill>
                <a:latin typeface="Segoe UI"/>
              </a:rPr>
              <a:t>A request must clear grants first (a missing grant fails with 42501 before anything else), then constraints, then Row Level Security. RLS is easiest to picture as a WHERE clause that the database quietly adds to every query - it filters rows, it does not reject requests.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7827264"/>
            <a:ext cx="31089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969DA"/>
                </a:solidFill>
                <a:latin typeface="Segoe UI"/>
              </a:rPr>
              <a:t>Why the log is append-only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7818120"/>
            <a:ext cx="101498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9636E"/>
                </a:solidFill>
                <a:latin typeface="Segoe UI"/>
              </a:rPr>
              <a:t>locations rows are only ever inserted. No update, no delete on a schedule. That is why the map subscribes to INSERT events only, and why a phone that was offline can upload late readings without conflicting with anything.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8449056"/>
            <a:ext cx="31089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969DA"/>
                </a:solidFill>
                <a:latin typeface="Segoe UI"/>
              </a:rPr>
              <a:t>Open items for the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8439912"/>
            <a:ext cx="101498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9636E"/>
                </a:solidFill>
                <a:latin typeface="Segoe UI"/>
              </a:rPr>
              <a:t>docs/gps-checklist.md notes that anonymous sign-ins may still be enabled; the "edit own display name" policy as written also permits changing username; username uniqueness is case-sensitive in the database and only lower-cased by the app; nothing enforces a single IC per group; and README.md still points at a deleted .env.example.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